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entation.xml" ContentType="application/vnd.openxmlformats-officedocument.presentationml.presentation.main+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57" r:id="rId4"/>
    <p:sldId id="258" r:id="rId5"/>
    <p:sldId id="270" r:id="rId6"/>
    <p:sldId id="259" r:id="rId7"/>
    <p:sldId id="260" r:id="rId8"/>
    <p:sldId id="261" r:id="rId9"/>
    <p:sldId id="262" r:id="rId10"/>
    <p:sldId id="263" r:id="rId11"/>
    <p:sldId id="264" r:id="rId12"/>
    <p:sldId id="265" r:id="rId13"/>
    <p:sldId id="266" r:id="rId14"/>
    <p:sldId id="271" r:id="rId15"/>
    <p:sldId id="267"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62"/>
    <p:restoredTop sz="94694"/>
  </p:normalViewPr>
  <p:slideViewPr>
    <p:cSldViewPr snapToGrid="0" snapToObjects="1">
      <p:cViewPr varScale="1">
        <p:scale>
          <a:sx n="100" d="100"/>
          <a:sy n="100" d="100"/>
        </p:scale>
        <p:origin x="880"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fr-FR"/>
              <a:t>Modifiez le style du titre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fr-FR"/>
              <a:t>Modifier les styles du texte du masque
Deuxième niveau
Troisième niveau
Quatrième niveau
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fr-FR"/>
              <a:t>Modifiez le style du titre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
Deuxième niveau
Troisième niveau
Quatrième niveau
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a:t>Modifiez le style du titre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fr-FR"/>
              <a:t>Modifier les styles du texte du masque
Deuxième niveau
Troisième niveau
Quatrième niveau
Cinquième niveau</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fr-FR"/>
              <a:t>Modifier les styles du texte du masque
Deuxième niveau
Troisième niveau
Quatrième niveau
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a:t>Modifiez le style du titre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dirty="0"/>
          </a:p>
        </p:txBody>
      </p:sp>
      <p:sp>
        <p:nvSpPr>
          <p:cNvPr id="12" name="Content Placeholder 3"/>
          <p:cNvSpPr>
            <a:spLocks noGrp="1"/>
          </p:cNvSpPr>
          <p:nvPr>
            <p:ph sz="quarter" idx="13"/>
          </p:nvPr>
        </p:nvSpPr>
        <p:spPr>
          <a:xfrm>
            <a:off x="913774" y="3051012"/>
            <a:ext cx="5106027" cy="2740187"/>
          </a:xfrm>
        </p:spPr>
        <p:txBody>
          <a:bodyPr/>
          <a:lstStyle/>
          <a:p>
            <a:pPr lvl="0"/>
            <a:r>
              <a:rPr lang="fr-FR"/>
              <a:t>Modifier les styles du texte du masque
Deuxième niveau
Troisième niveau
Quatrième niveau
Cinquième niveau</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dirty="0"/>
          </a:p>
        </p:txBody>
      </p:sp>
      <p:sp>
        <p:nvSpPr>
          <p:cNvPr id="13" name="Content Placeholder 5"/>
          <p:cNvSpPr>
            <a:spLocks noGrp="1"/>
          </p:cNvSpPr>
          <p:nvPr>
            <p:ph sz="quarter" idx="14"/>
          </p:nvPr>
        </p:nvSpPr>
        <p:spPr>
          <a:xfrm>
            <a:off x="6172200" y="3051012"/>
            <a:ext cx="5105401" cy="2740187"/>
          </a:xfrm>
        </p:spPr>
        <p:txBody>
          <a:bodyPr/>
          <a:lstStyle/>
          <a:p>
            <a:pPr lvl="0"/>
            <a:r>
              <a:rPr lang="fr-FR"/>
              <a:t>Modifier les styles du texte du masque
Deuxième niveau
Troisième niveau
Quatrième niveau
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9/4/25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fr-FR"/>
              <a:t>Modifiez le style du titre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fr-FR"/>
              <a:t>Modifier les styles du texte du masque
Deuxième niveau
Troisième niveau
Quatrième niveau
Cinquième niveau</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
Deuxième niveau
Troisième niveau
Quatrième niveau
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
Deuxième niveau
Troisième niveau
Quatrième niveau
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
Deuxième niveau
Troisième niveau
Quatrième niveau
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
Deuxième niveau
Troisième niveau
Quatrième niveau
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fr-FR"/>
              <a:t>Modifiez le style du titre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
Deuxième niveau
Troisième niveau
Quatrième niveau
Cinquième niveau</a:t>
            </a:r>
            <a:endParaRPr lang="en-US" dirty="0"/>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
Deuxième niveau
Troisième niveau
Quatrième niveau
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
Deuxième niveau
Troisième niveau
Quatrième niveau
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fr-FR"/>
              <a:t>Modifiez le style du titre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dirty="0"/>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
Deuxième niveau
Troisième niveau
Quatrième niveau
Cinquième niveau</a:t>
            </a:r>
            <a:endParaRPr lang="en-US" dirty="0"/>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dirty="0"/>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
Deuxième niveau
Troisième niveau
Quatrième niveau
Cinquième niveau</a:t>
            </a:r>
            <a:endParaRPr lang="en-US" dirty="0"/>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dirty="0"/>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
Deuxième niveau
Troisième niveau
Quatrième niveau
Cinquième niveau</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fr-FR"/>
              <a:t>Modifiez le style du titre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dirty="0"/>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
Deuxième niveau
Troisième niveau
Quatrième niveau
Cinquième niveau</a:t>
            </a:r>
            <a:endParaRPr lang="en-US" dirty="0"/>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dirty="0"/>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
Deuxième niveau
Troisième niveau
Quatrième niveau
Cinquième niveau</a:t>
            </a:r>
            <a:endParaRPr lang="en-US" dirty="0"/>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dirty="0"/>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
Deuxième niveau
Troisième niveau
Quatrième niveau
Cinquième niveau</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fr-FR"/>
              <a:t>Modifier les styles du texte du masque
Deuxième niveau
Troisième niveau
Quatrième niveau
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fr-FR"/>
              <a:t>Modifiez le style du titre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fr-FR"/>
              <a:t>Modifier les styles du texte du masque
Deuxième niveau
Troisième niveau
Quatrième niveau
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fr-FR"/>
              <a:t>Modifier les styles du texte du masque
Deuxième niveau
Troisième niveau
Quatrième niveau
Cinquième niveau</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9/4/25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NOTE%20DE%20CADRAGE%20RGPD.docx"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REGISTRE-RGPD-V3%20%20%20groupe%20synadic.xlsx" TargetMode="External"/><Relationship Id="rId2" Type="http://schemas.openxmlformats.org/officeDocument/2006/relationships/hyperlink" Target="rgpd_fiche_gestion-scolarite.docx"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dpr-expert.eu/article.html?id=6#textesofficiel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Annexe%201%20modele%20de%20contrat%20de%20scolarisation.docx" TargetMode="External"/><Relationship Id="rId2" Type="http://schemas.openxmlformats.org/officeDocument/2006/relationships/hyperlink" Target="maquette-politique-confidentialite.docx"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nil.fr/fr/sous-traitance-exemple-de-clauses" TargetMode="External"/><Relationship Id="rId2" Type="http://schemas.openxmlformats.org/officeDocument/2006/relationships/hyperlink" Target="https://www.cnil.fr/sites/default/files/atoms/files/rgpd-guide_sous-traitant-cnil.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CHARTE%20INFORMATIQUE-eleves-2D.docx"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3BD2B3-5ACF-0049-81DE-AEB259A04E27}"/>
              </a:ext>
            </a:extLst>
          </p:cNvPr>
          <p:cNvSpPr>
            <a:spLocks noGrp="1"/>
          </p:cNvSpPr>
          <p:nvPr>
            <p:ph type="ctrTitle"/>
          </p:nvPr>
        </p:nvSpPr>
        <p:spPr/>
        <p:txBody>
          <a:bodyPr>
            <a:normAutofit/>
          </a:bodyPr>
          <a:lstStyle/>
          <a:p>
            <a:r>
              <a:rPr lang="fr-FR" sz="6000" dirty="0"/>
              <a:t>Le RGPD</a:t>
            </a:r>
          </a:p>
        </p:txBody>
      </p:sp>
      <p:sp>
        <p:nvSpPr>
          <p:cNvPr id="3" name="Sous-titre 2">
            <a:extLst>
              <a:ext uri="{FF2B5EF4-FFF2-40B4-BE49-F238E27FC236}">
                <a16:creationId xmlns:a16="http://schemas.microsoft.com/office/drawing/2014/main" id="{51E59804-3BEA-774E-85B9-3C50A612BA8B}"/>
              </a:ext>
            </a:extLst>
          </p:cNvPr>
          <p:cNvSpPr>
            <a:spLocks noGrp="1"/>
          </p:cNvSpPr>
          <p:nvPr>
            <p:ph type="subTitle" idx="1"/>
          </p:nvPr>
        </p:nvSpPr>
        <p:spPr/>
        <p:txBody>
          <a:bodyPr/>
          <a:lstStyle/>
          <a:p>
            <a:r>
              <a:rPr lang="fr-FR" dirty="0"/>
              <a:t>Obligatoire depuis le 25 mai 2018</a:t>
            </a:r>
          </a:p>
        </p:txBody>
      </p:sp>
    </p:spTree>
    <p:extLst>
      <p:ext uri="{BB962C8B-B14F-4D97-AF65-F5344CB8AC3E}">
        <p14:creationId xmlns:p14="http://schemas.microsoft.com/office/powerpoint/2010/main" val="3063189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FDA740-A8E1-F847-9F62-95119FFF7AC7}"/>
              </a:ext>
            </a:extLst>
          </p:cNvPr>
          <p:cNvSpPr>
            <a:spLocks noGrp="1"/>
          </p:cNvSpPr>
          <p:nvPr>
            <p:ph type="title"/>
          </p:nvPr>
        </p:nvSpPr>
        <p:spPr/>
        <p:txBody>
          <a:bodyPr/>
          <a:lstStyle/>
          <a:p>
            <a:r>
              <a:rPr lang="fr-FR" b="1" dirty="0"/>
              <a:t>Le RGPD</a:t>
            </a:r>
          </a:p>
        </p:txBody>
      </p:sp>
      <p:sp>
        <p:nvSpPr>
          <p:cNvPr id="3" name="Espace réservé du contenu 2">
            <a:extLst>
              <a:ext uri="{FF2B5EF4-FFF2-40B4-BE49-F238E27FC236}">
                <a16:creationId xmlns:a16="http://schemas.microsoft.com/office/drawing/2014/main" id="{0138E613-E02F-5C4F-8E9E-8DD9070440E8}"/>
              </a:ext>
            </a:extLst>
          </p:cNvPr>
          <p:cNvSpPr>
            <a:spLocks noGrp="1"/>
          </p:cNvSpPr>
          <p:nvPr>
            <p:ph sz="quarter" idx="13"/>
          </p:nvPr>
        </p:nvSpPr>
        <p:spPr/>
        <p:txBody>
          <a:bodyPr>
            <a:normAutofit/>
          </a:bodyPr>
          <a:lstStyle/>
          <a:p>
            <a:pPr fontAlgn="base"/>
            <a:r>
              <a:rPr lang="fr-FR" sz="2400" b="1" dirty="0"/>
              <a:t>RGPD pour Règlement général sur la protection des données.</a:t>
            </a:r>
          </a:p>
          <a:p>
            <a:pPr fontAlgn="base"/>
            <a:r>
              <a:rPr lang="fr-FR" sz="2400" b="1" dirty="0"/>
              <a:t>Il s’agit du texte de référence européen en matière de protection des données personnelles pour les résidents de l’Union européenne. </a:t>
            </a:r>
          </a:p>
          <a:p>
            <a:pPr fontAlgn="base"/>
            <a:r>
              <a:rPr lang="fr-FR" sz="2400" b="1" dirty="0"/>
              <a:t>En gros, le </a:t>
            </a:r>
            <a:r>
              <a:rPr lang="fr-FR" sz="2400" b="1" dirty="0" err="1"/>
              <a:t>rgpd</a:t>
            </a:r>
            <a:r>
              <a:rPr lang="fr-FR" sz="2400" b="1" dirty="0"/>
              <a:t> va harmoniser la gestion des données dans l’ensemble des pays de l’Union Européenne.</a:t>
            </a:r>
          </a:p>
          <a:p>
            <a:pPr marL="0" indent="0">
              <a:buNone/>
            </a:pPr>
            <a:endParaRPr lang="fr-FR" dirty="0"/>
          </a:p>
        </p:txBody>
      </p:sp>
    </p:spTree>
    <p:extLst>
      <p:ext uri="{BB962C8B-B14F-4D97-AF65-F5344CB8AC3E}">
        <p14:creationId xmlns:p14="http://schemas.microsoft.com/office/powerpoint/2010/main" val="1203373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5BF9E6-412A-B341-9083-59FA6A2B29F8}"/>
              </a:ext>
            </a:extLst>
          </p:cNvPr>
          <p:cNvSpPr>
            <a:spLocks noGrp="1"/>
          </p:cNvSpPr>
          <p:nvPr>
            <p:ph type="title"/>
          </p:nvPr>
        </p:nvSpPr>
        <p:spPr/>
        <p:txBody>
          <a:bodyPr/>
          <a:lstStyle/>
          <a:p>
            <a:r>
              <a:rPr lang="fr-FR" dirty="0"/>
              <a:t>Le </a:t>
            </a:r>
            <a:r>
              <a:rPr lang="fr-FR" dirty="0" err="1"/>
              <a:t>rgpd</a:t>
            </a:r>
            <a:endParaRPr lang="fr-FR" dirty="0"/>
          </a:p>
        </p:txBody>
      </p:sp>
      <p:sp>
        <p:nvSpPr>
          <p:cNvPr id="3" name="Espace réservé du contenu 2">
            <a:extLst>
              <a:ext uri="{FF2B5EF4-FFF2-40B4-BE49-F238E27FC236}">
                <a16:creationId xmlns:a16="http://schemas.microsoft.com/office/drawing/2014/main" id="{0BAB9B7E-D243-6445-8898-D7502B6C4F47}"/>
              </a:ext>
            </a:extLst>
          </p:cNvPr>
          <p:cNvSpPr>
            <a:spLocks noGrp="1"/>
          </p:cNvSpPr>
          <p:nvPr>
            <p:ph sz="quarter" idx="13"/>
          </p:nvPr>
        </p:nvSpPr>
        <p:spPr>
          <a:xfrm>
            <a:off x="913774" y="1834410"/>
            <a:ext cx="10363826" cy="3956789"/>
          </a:xfrm>
        </p:spPr>
        <p:txBody>
          <a:bodyPr>
            <a:normAutofit fontScale="92500" lnSpcReduction="20000"/>
          </a:bodyPr>
          <a:lstStyle/>
          <a:p>
            <a:r>
              <a:rPr lang="fr-FR" b="1" dirty="0"/>
              <a:t>Données personnelles</a:t>
            </a:r>
          </a:p>
          <a:p>
            <a:pPr lvl="1"/>
            <a:r>
              <a:rPr lang="fr-FR" sz="2400" dirty="0"/>
              <a:t>En droit français, toute donnée personnelle est une information relative à une personne physique identifiée ou qui peut l’être avec cette donnée : un prénom, une adresse e-mail, un nom de société…</a:t>
            </a:r>
          </a:p>
          <a:p>
            <a:pPr lvl="1"/>
            <a:r>
              <a:rPr lang="fr-FR" sz="2400" dirty="0"/>
              <a:t>Cette nouvelle règlementation permet ainsi de clarifier les droits dont disposent les utilisateurs quant à </a:t>
            </a:r>
            <a:r>
              <a:rPr lang="fr-FR" sz="2400" b="1" dirty="0"/>
              <a:t>l’accès à leurs propres données, leur modification et leur portabilité, jusqu’au droit à l’oubli</a:t>
            </a:r>
            <a:r>
              <a:rPr lang="fr-FR" sz="2400" dirty="0"/>
              <a:t>.</a:t>
            </a:r>
          </a:p>
          <a:p>
            <a:pPr lvl="1"/>
            <a:r>
              <a:rPr lang="fr-FR" sz="2400" b="1" dirty="0"/>
              <a:t>Vous stockez des données personnelles sans but précis ? La loi ne l’autorise plus</a:t>
            </a:r>
            <a:r>
              <a:rPr lang="fr-FR" sz="2400" dirty="0"/>
              <a:t>. Le RGPD est clair sur le sujet : toute donnée collectée et stockée doit poursuivre un </a:t>
            </a:r>
            <a:r>
              <a:rPr lang="fr-FR" sz="2400" b="1" dirty="0"/>
              <a:t>objectif précis</a:t>
            </a:r>
            <a:r>
              <a:rPr lang="fr-FR" sz="2400" dirty="0"/>
              <a:t>, pour une </a:t>
            </a:r>
            <a:r>
              <a:rPr lang="fr-FR" sz="2400" b="1" dirty="0"/>
              <a:t>période donnée</a:t>
            </a:r>
            <a:r>
              <a:rPr lang="fr-FR" sz="2400" dirty="0"/>
              <a:t> et l’utilisateur doit en </a:t>
            </a:r>
            <a:r>
              <a:rPr lang="fr-FR" sz="2400" b="1" dirty="0"/>
              <a:t>être informé</a:t>
            </a:r>
            <a:r>
              <a:rPr lang="fr-FR" sz="2400" dirty="0"/>
              <a:t>. </a:t>
            </a:r>
          </a:p>
        </p:txBody>
      </p:sp>
    </p:spTree>
    <p:extLst>
      <p:ext uri="{BB962C8B-B14F-4D97-AF65-F5344CB8AC3E}">
        <p14:creationId xmlns:p14="http://schemas.microsoft.com/office/powerpoint/2010/main" val="702972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99749D-F4A1-DB44-8456-C3FACBE2C3D2}"/>
              </a:ext>
            </a:extLst>
          </p:cNvPr>
          <p:cNvSpPr>
            <a:spLocks noGrp="1"/>
          </p:cNvSpPr>
          <p:nvPr>
            <p:ph type="title"/>
          </p:nvPr>
        </p:nvSpPr>
        <p:spPr/>
        <p:txBody>
          <a:bodyPr/>
          <a:lstStyle/>
          <a:p>
            <a:r>
              <a:rPr lang="fr-FR" dirty="0"/>
              <a:t>Le </a:t>
            </a:r>
            <a:r>
              <a:rPr lang="fr-FR" dirty="0" err="1"/>
              <a:t>rgpd</a:t>
            </a:r>
            <a:r>
              <a:rPr lang="fr-FR" dirty="0"/>
              <a:t>	</a:t>
            </a:r>
          </a:p>
        </p:txBody>
      </p:sp>
      <p:sp>
        <p:nvSpPr>
          <p:cNvPr id="3" name="Espace réservé du contenu 2">
            <a:extLst>
              <a:ext uri="{FF2B5EF4-FFF2-40B4-BE49-F238E27FC236}">
                <a16:creationId xmlns:a16="http://schemas.microsoft.com/office/drawing/2014/main" id="{291FCA29-193E-8643-85C4-D9D3BB8C15CD}"/>
              </a:ext>
            </a:extLst>
          </p:cNvPr>
          <p:cNvSpPr>
            <a:spLocks noGrp="1"/>
          </p:cNvSpPr>
          <p:nvPr>
            <p:ph sz="quarter" idx="13"/>
          </p:nvPr>
        </p:nvSpPr>
        <p:spPr>
          <a:xfrm>
            <a:off x="913774" y="2214694"/>
            <a:ext cx="10363826" cy="4176058"/>
          </a:xfrm>
        </p:spPr>
        <p:txBody>
          <a:bodyPr>
            <a:normAutofit fontScale="55000" lnSpcReduction="20000"/>
          </a:bodyPr>
          <a:lstStyle/>
          <a:p>
            <a:r>
              <a:rPr lang="fr-FR" sz="2800" b="1" dirty="0"/>
              <a:t>Les données sensibles</a:t>
            </a:r>
          </a:p>
          <a:p>
            <a:pPr lvl="1"/>
            <a:r>
              <a:rPr lang="fr-FR" sz="3100" dirty="0"/>
              <a:t>Ce sont des informations qui révèlent la prétendue </a:t>
            </a:r>
            <a:r>
              <a:rPr lang="fr-FR" sz="3100" b="1" dirty="0"/>
              <a:t>origine raciale ou ethnique</a:t>
            </a:r>
            <a:r>
              <a:rPr lang="fr-FR" sz="3100" dirty="0"/>
              <a:t>, </a:t>
            </a:r>
            <a:r>
              <a:rPr lang="fr-FR" sz="3100" b="1" dirty="0"/>
              <a:t>les opinions politiques</a:t>
            </a:r>
            <a:r>
              <a:rPr lang="fr-FR" sz="3100" dirty="0"/>
              <a:t>, </a:t>
            </a:r>
            <a:r>
              <a:rPr lang="fr-FR" sz="3100" b="1" dirty="0"/>
              <a:t>les convictions religieuses</a:t>
            </a:r>
            <a:r>
              <a:rPr lang="fr-FR" sz="3100" dirty="0"/>
              <a:t> ou </a:t>
            </a:r>
            <a:r>
              <a:rPr lang="fr-FR" sz="3100" b="1" dirty="0"/>
              <a:t>philosophiques</a:t>
            </a:r>
            <a:r>
              <a:rPr lang="fr-FR" sz="3100" dirty="0"/>
              <a:t> ou </a:t>
            </a:r>
            <a:r>
              <a:rPr lang="fr-FR" sz="3100" b="1" dirty="0"/>
              <a:t>l'appartenance syndicale</a:t>
            </a:r>
            <a:r>
              <a:rPr lang="fr-FR" sz="3100" dirty="0"/>
              <a:t>, </a:t>
            </a:r>
            <a:r>
              <a:rPr lang="fr-FR" sz="3100" b="1" dirty="0"/>
              <a:t>des données concernant la santé </a:t>
            </a:r>
            <a:r>
              <a:rPr lang="fr-FR" sz="3100" dirty="0"/>
              <a:t>ou des données concernant </a:t>
            </a:r>
            <a:r>
              <a:rPr lang="fr-FR" sz="3100" b="1" dirty="0"/>
              <a:t>la vie sexuelle ou l'orientation sexuelle </a:t>
            </a:r>
            <a:r>
              <a:rPr lang="fr-FR" sz="3100" dirty="0"/>
              <a:t>d'une personne physique. </a:t>
            </a:r>
            <a:r>
              <a:rPr lang="fr-FR" sz="3100" b="1" dirty="0"/>
              <a:t>Le Règlement européen interdit de recueillir ou d’utiliser ces données</a:t>
            </a:r>
            <a:r>
              <a:rPr lang="fr-FR" sz="3100" dirty="0"/>
              <a:t>, sauf dans certains cas :</a:t>
            </a:r>
          </a:p>
          <a:p>
            <a:pPr lvl="2"/>
            <a:r>
              <a:rPr lang="fr-FR" sz="2900" dirty="0"/>
              <a:t>Si la personne concernée a donné son consentement exprès (démarche active, explicite et de préférence écrite, qui doit être libre, spécifique, et informée),</a:t>
            </a:r>
          </a:p>
          <a:p>
            <a:pPr lvl="2"/>
            <a:r>
              <a:rPr lang="fr-FR" sz="2900" dirty="0"/>
              <a:t>Si les informations sont rendues publiques par la personne concernée,</a:t>
            </a:r>
          </a:p>
          <a:p>
            <a:pPr lvl="2"/>
            <a:r>
              <a:rPr lang="fr-FR" sz="2900" dirty="0"/>
              <a:t>Si elles sont nécessaires à la sauvegarde de la vie humaine,</a:t>
            </a:r>
          </a:p>
          <a:p>
            <a:pPr marL="1371600" lvl="3" indent="0">
              <a:buNone/>
            </a:pPr>
            <a:r>
              <a:rPr lang="fr-FR" sz="2700" dirty="0"/>
              <a:t>Si leur utilisation est justifiée par l'intérêt public et autorisé par la CNIL,</a:t>
            </a:r>
          </a:p>
          <a:p>
            <a:pPr lvl="2"/>
            <a:r>
              <a:rPr lang="fr-FR" sz="2900" dirty="0"/>
              <a:t>Si elles concernent les membres ou adhérents d'une association ou d'une organisation politique, religieuse, philosophique, politique ou syndicale. </a:t>
            </a:r>
          </a:p>
          <a:p>
            <a:endParaRPr lang="fr-FR" dirty="0"/>
          </a:p>
        </p:txBody>
      </p:sp>
    </p:spTree>
    <p:extLst>
      <p:ext uri="{BB962C8B-B14F-4D97-AF65-F5344CB8AC3E}">
        <p14:creationId xmlns:p14="http://schemas.microsoft.com/office/powerpoint/2010/main" val="1342829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193C8-462E-C946-94A0-1B5748CC2CB0}"/>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8F5C84EF-BB63-464B-BFAB-C4D820AEDE59}"/>
              </a:ext>
            </a:extLst>
          </p:cNvPr>
          <p:cNvSpPr>
            <a:spLocks noGrp="1"/>
          </p:cNvSpPr>
          <p:nvPr>
            <p:ph sz="quarter" idx="13"/>
          </p:nvPr>
        </p:nvSpPr>
        <p:spPr>
          <a:xfrm>
            <a:off x="913774" y="1748413"/>
            <a:ext cx="10363826" cy="4953838"/>
          </a:xfrm>
        </p:spPr>
        <p:txBody>
          <a:bodyPr>
            <a:normAutofit fontScale="32500" lnSpcReduction="20000"/>
          </a:bodyPr>
          <a:lstStyle/>
          <a:p>
            <a:pPr algn="ctr"/>
            <a:r>
              <a:rPr lang="fr-FR" sz="5000" b="1" dirty="0"/>
              <a:t>Le responsable des traitements</a:t>
            </a:r>
          </a:p>
          <a:p>
            <a:pPr marL="0" indent="0" algn="ctr">
              <a:buNone/>
            </a:pPr>
            <a:r>
              <a:rPr lang="fr-FR" sz="2400" b="1" dirty="0"/>
              <a:t>C’est le chef d’établissement</a:t>
            </a:r>
          </a:p>
          <a:p>
            <a:pPr algn="ctr"/>
            <a:endParaRPr lang="fr-FR" sz="2400" b="1" dirty="0"/>
          </a:p>
          <a:p>
            <a:pPr algn="ctr"/>
            <a:r>
              <a:rPr lang="fr-FR" sz="5000" b="1" dirty="0"/>
              <a:t>Désigner un pilote</a:t>
            </a:r>
          </a:p>
          <a:p>
            <a:pPr marL="0" indent="0">
              <a:buNone/>
            </a:pPr>
            <a:r>
              <a:rPr lang="fr-FR" sz="2900" b="1" dirty="0"/>
              <a:t>Son Rôle</a:t>
            </a:r>
          </a:p>
          <a:p>
            <a:pPr lvl="1"/>
            <a:r>
              <a:rPr lang="fr-FR" sz="2900" b="1" dirty="0"/>
              <a:t>d’informer et de conseiller</a:t>
            </a:r>
            <a:r>
              <a:rPr lang="fr-FR" sz="2900" dirty="0"/>
              <a:t> le responsable de traitement ou le sous-traitant, ainsi que leurs employés ;</a:t>
            </a:r>
          </a:p>
          <a:p>
            <a:pPr lvl="1"/>
            <a:r>
              <a:rPr lang="fr-FR" sz="2900" b="1" dirty="0"/>
              <a:t>de contrôler le respect du règlement </a:t>
            </a:r>
            <a:r>
              <a:rPr lang="fr-FR" sz="2900" dirty="0"/>
              <a:t>et du droit national en matière de protection des données ;</a:t>
            </a:r>
          </a:p>
          <a:p>
            <a:pPr lvl="1"/>
            <a:r>
              <a:rPr lang="fr-FR" sz="2900" b="1" dirty="0"/>
              <a:t>de conseiller l’organisme</a:t>
            </a:r>
            <a:r>
              <a:rPr lang="fr-FR" sz="2900" dirty="0"/>
              <a:t> sur la réalisation d’études d'impact sur la protection des données et d’en vérifier l’exécution ;</a:t>
            </a:r>
          </a:p>
          <a:p>
            <a:pPr lvl="1"/>
            <a:r>
              <a:rPr lang="fr-FR" sz="2900" b="1" dirty="0"/>
              <a:t>de coopérer avec l’autorité de contrôle </a:t>
            </a:r>
            <a:r>
              <a:rPr lang="fr-FR" sz="2900" dirty="0"/>
              <a:t>et d’être le point de contact de celle-ci.</a:t>
            </a:r>
          </a:p>
          <a:p>
            <a:pPr marL="0" indent="0">
              <a:buNone/>
            </a:pPr>
            <a:r>
              <a:rPr lang="fr-FR" sz="2900" b="1" dirty="0"/>
              <a:t> profil</a:t>
            </a:r>
          </a:p>
          <a:p>
            <a:pPr marL="0" indent="0">
              <a:buNone/>
            </a:pPr>
            <a:r>
              <a:rPr lang="fr-FR" sz="2900" dirty="0"/>
              <a:t>	- Ce n’est pas forcement le responsable de l’informatique</a:t>
            </a:r>
          </a:p>
          <a:p>
            <a:pPr marL="0" indent="0">
              <a:buNone/>
            </a:pPr>
            <a:endParaRPr lang="fr-FR" sz="2900" dirty="0"/>
          </a:p>
          <a:p>
            <a:pPr marL="0" indent="0">
              <a:buNone/>
            </a:pPr>
            <a:r>
              <a:rPr lang="fr-FR" sz="2900" b="1" dirty="0"/>
              <a:t>Légitimer</a:t>
            </a:r>
          </a:p>
          <a:p>
            <a:pPr marL="0" indent="0">
              <a:buNone/>
            </a:pPr>
            <a:r>
              <a:rPr lang="fr-FR" sz="2900" b="1" dirty="0"/>
              <a:t>	</a:t>
            </a:r>
            <a:r>
              <a:rPr lang="fr-FR" sz="2900" b="1" dirty="0">
                <a:hlinkClick r:id="rId2"/>
              </a:rPr>
              <a:t>- exemple de note de cadrage </a:t>
            </a:r>
            <a:r>
              <a:rPr lang="fr-FR" sz="2900" b="1" dirty="0"/>
              <a:t>:</a:t>
            </a:r>
          </a:p>
          <a:p>
            <a:pPr marL="0" indent="0">
              <a:buNone/>
            </a:pPr>
            <a:r>
              <a:rPr lang="fr-FR" sz="2900" dirty="0"/>
              <a:t>	- assister au conseil de direction</a:t>
            </a:r>
          </a:p>
          <a:p>
            <a:pPr marL="0" indent="0">
              <a:buNone/>
            </a:pPr>
            <a:r>
              <a:rPr lang="fr-FR" sz="2900" dirty="0"/>
              <a:t>	- …</a:t>
            </a:r>
            <a:br>
              <a:rPr lang="fr-FR" sz="2900" dirty="0"/>
            </a:br>
            <a:r>
              <a:rPr lang="fr-FR" sz="2900" dirty="0"/>
              <a:t> </a:t>
            </a:r>
          </a:p>
          <a:p>
            <a:pPr lvl="1"/>
            <a:endParaRPr lang="fr-FR" dirty="0"/>
          </a:p>
        </p:txBody>
      </p:sp>
    </p:spTree>
    <p:extLst>
      <p:ext uri="{BB962C8B-B14F-4D97-AF65-F5344CB8AC3E}">
        <p14:creationId xmlns:p14="http://schemas.microsoft.com/office/powerpoint/2010/main" val="4017132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3B3F94-CDF4-B840-977D-8EE94D91A9ED}"/>
              </a:ext>
            </a:extLst>
          </p:cNvPr>
          <p:cNvSpPr>
            <a:spLocks noGrp="1"/>
          </p:cNvSpPr>
          <p:nvPr>
            <p:ph type="title"/>
          </p:nvPr>
        </p:nvSpPr>
        <p:spPr/>
        <p:txBody>
          <a:bodyPr/>
          <a:lstStyle/>
          <a:p>
            <a:r>
              <a:rPr lang="fr-FR" dirty="0"/>
              <a:t>Le RGPD	</a:t>
            </a:r>
          </a:p>
        </p:txBody>
      </p:sp>
      <p:pic>
        <p:nvPicPr>
          <p:cNvPr id="5" name="Espace réservé du contenu 4" descr="Une image contenant capture d’écran&#10;&#10;&#10;&#10;Description générée automatiquement">
            <a:extLst>
              <a:ext uri="{FF2B5EF4-FFF2-40B4-BE49-F238E27FC236}">
                <a16:creationId xmlns:a16="http://schemas.microsoft.com/office/drawing/2014/main" id="{7415A4F4-27F7-804F-9745-E72AB6EA7E73}"/>
              </a:ext>
            </a:extLst>
          </p:cNvPr>
          <p:cNvPicPr>
            <a:picLocks noGrp="1" noChangeAspect="1"/>
          </p:cNvPicPr>
          <p:nvPr>
            <p:ph sz="quarter" idx="13"/>
          </p:nvPr>
        </p:nvPicPr>
        <p:blipFill>
          <a:blip r:embed="rId2"/>
          <a:stretch>
            <a:fillRect/>
          </a:stretch>
        </p:blipFill>
        <p:spPr>
          <a:xfrm>
            <a:off x="2984500" y="2409031"/>
            <a:ext cx="6223000" cy="3340100"/>
          </a:xfrm>
        </p:spPr>
      </p:pic>
    </p:spTree>
    <p:extLst>
      <p:ext uri="{BB962C8B-B14F-4D97-AF65-F5344CB8AC3E}">
        <p14:creationId xmlns:p14="http://schemas.microsoft.com/office/powerpoint/2010/main" val="16190977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9006E2-954E-FB41-9E03-02F5B6C4F3E3}"/>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AB76BE1D-D113-A34C-8679-5B852C8FB25E}"/>
              </a:ext>
            </a:extLst>
          </p:cNvPr>
          <p:cNvSpPr>
            <a:spLocks noGrp="1"/>
          </p:cNvSpPr>
          <p:nvPr>
            <p:ph sz="quarter" idx="13"/>
          </p:nvPr>
        </p:nvSpPr>
        <p:spPr>
          <a:xfrm>
            <a:off x="914399" y="1894820"/>
            <a:ext cx="10363826" cy="4174385"/>
          </a:xfrm>
        </p:spPr>
        <p:txBody>
          <a:bodyPr>
            <a:normAutofit fontScale="85000" lnSpcReduction="20000"/>
          </a:bodyPr>
          <a:lstStyle/>
          <a:p>
            <a:pPr marL="0" indent="0" algn="ctr">
              <a:buNone/>
            </a:pPr>
            <a:r>
              <a:rPr lang="fr-FR" sz="4400" b="1" dirty="0"/>
              <a:t>Constituez un registre de vos traitements de données</a:t>
            </a:r>
          </a:p>
          <a:p>
            <a:r>
              <a:rPr lang="fr-FR" dirty="0"/>
              <a:t>Ce document vous permet de recenser tous vos fichiers et d’avoir une vision d’ensemble.</a:t>
            </a:r>
          </a:p>
          <a:p>
            <a:r>
              <a:rPr lang="fr-FR" b="1" dirty="0"/>
              <a:t>Identifiez les activités principales de votre Etablissement</a:t>
            </a:r>
            <a:r>
              <a:rPr lang="fr-FR" dirty="0"/>
              <a:t> qui nécessitent la collecte et le traitement de données.</a:t>
            </a:r>
            <a:br>
              <a:rPr lang="fr-FR" dirty="0"/>
            </a:br>
            <a:r>
              <a:rPr lang="fr-FR" dirty="0"/>
              <a:t>Exemples : recrutement, gestion de la paye, formation, gestion des badges et des accès, statistiques de ventes, gestion des clients prospects, etc.</a:t>
            </a:r>
          </a:p>
          <a:p>
            <a:r>
              <a:rPr lang="fr-FR" b="1" dirty="0"/>
              <a:t>Appuyez-vous sur </a:t>
            </a:r>
          </a:p>
          <a:p>
            <a:r>
              <a:rPr lang="fr-FR" b="1" dirty="0">
                <a:hlinkClick r:id="rId2"/>
              </a:rPr>
              <a:t>le modèle de registre</a:t>
            </a:r>
            <a:r>
              <a:rPr lang="fr-FR" b="1" dirty="0"/>
              <a:t> 1</a:t>
            </a:r>
            <a:r>
              <a:rPr lang="fr-FR" b="1" baseline="30000" dirty="0"/>
              <a:t>er</a:t>
            </a:r>
            <a:r>
              <a:rPr lang="fr-FR" b="1" dirty="0"/>
              <a:t> degré</a:t>
            </a:r>
          </a:p>
          <a:p>
            <a:r>
              <a:rPr lang="fr-FR" b="1" dirty="0"/>
              <a:t>.</a:t>
            </a:r>
            <a:r>
              <a:rPr lang="fr-FR" b="1" dirty="0">
                <a:hlinkClick r:id="rId3"/>
              </a:rPr>
              <a:t>le modèle de registre </a:t>
            </a:r>
            <a:r>
              <a:rPr lang="fr-FR" b="1" dirty="0"/>
              <a:t>2</a:t>
            </a:r>
            <a:r>
              <a:rPr lang="fr-FR" b="1" baseline="30000" dirty="0"/>
              <a:t>nd</a:t>
            </a:r>
            <a:r>
              <a:rPr lang="fr-FR" b="1" dirty="0"/>
              <a:t> degré</a:t>
            </a:r>
          </a:p>
          <a:p>
            <a:pPr marL="0" indent="0">
              <a:buNone/>
            </a:pPr>
            <a:endParaRPr lang="fr-FR" dirty="0"/>
          </a:p>
          <a:p>
            <a:endParaRPr lang="fr-FR" dirty="0"/>
          </a:p>
        </p:txBody>
      </p:sp>
    </p:spTree>
    <p:extLst>
      <p:ext uri="{BB962C8B-B14F-4D97-AF65-F5344CB8AC3E}">
        <p14:creationId xmlns:p14="http://schemas.microsoft.com/office/powerpoint/2010/main" val="1721728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D527A8-D308-2C4F-9E28-4B23F0941558}"/>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1F2AA683-6C23-7D42-9AA7-4FCD603057F2}"/>
              </a:ext>
            </a:extLst>
          </p:cNvPr>
          <p:cNvSpPr>
            <a:spLocks noGrp="1"/>
          </p:cNvSpPr>
          <p:nvPr>
            <p:ph sz="quarter" idx="13"/>
          </p:nvPr>
        </p:nvSpPr>
        <p:spPr>
          <a:xfrm>
            <a:off x="913774" y="2367092"/>
            <a:ext cx="10363826" cy="4063853"/>
          </a:xfrm>
        </p:spPr>
        <p:txBody>
          <a:bodyPr>
            <a:normAutofit fontScale="70000" lnSpcReduction="20000"/>
          </a:bodyPr>
          <a:lstStyle/>
          <a:p>
            <a:pPr marL="0" indent="0" algn="ctr">
              <a:buNone/>
            </a:pPr>
            <a:r>
              <a:rPr lang="fr-FR" sz="4400" b="1" dirty="0"/>
              <a:t>Faites le tri dans vos données</a:t>
            </a:r>
          </a:p>
          <a:p>
            <a:r>
              <a:rPr lang="fr-FR" dirty="0"/>
              <a:t>La constitution du registre vous permet de vous interroger sur les données dont votre entreprise a réellement besoin.</a:t>
            </a:r>
          </a:p>
          <a:p>
            <a:r>
              <a:rPr lang="fr-FR" dirty="0"/>
              <a:t>Pour chaque fiche de registre créée, vérifiez que :</a:t>
            </a:r>
          </a:p>
          <a:p>
            <a:r>
              <a:rPr lang="fr-FR" dirty="0"/>
              <a:t>les données que vous traitez sont nécessaires à vos activités (par exemple, il n’est pas utile de savoir si vos salariés ont des enfants, si vous n’offrez aucun service ou rémunération attachée à cette caractéristique) ;</a:t>
            </a:r>
          </a:p>
          <a:p>
            <a:r>
              <a:rPr lang="fr-FR" dirty="0"/>
              <a:t>vous ne traitez aucune donnée dite « sensible » ou, si c’est le cas, que vous avez bien le droit de les traiter</a:t>
            </a:r>
          </a:p>
          <a:p>
            <a:r>
              <a:rPr lang="fr-FR" dirty="0"/>
              <a:t>seules les personnes habilitées ont accès aux données dont elles ont besoin ;</a:t>
            </a:r>
          </a:p>
          <a:p>
            <a:r>
              <a:rPr lang="fr-FR" dirty="0"/>
              <a:t>vous ne conservez pas vos données au-delà de ce qui est nécessaire.</a:t>
            </a:r>
          </a:p>
          <a:p>
            <a:pPr marL="0" indent="0" algn="ctr">
              <a:buNone/>
            </a:pPr>
            <a:r>
              <a:rPr lang="fr-FR" sz="3400" b="1" dirty="0"/>
              <a:t>A cette occasion, améliorez vos pratiques ! </a:t>
            </a:r>
            <a:endParaRPr lang="fr-FR" sz="3400" dirty="0"/>
          </a:p>
        </p:txBody>
      </p:sp>
    </p:spTree>
    <p:extLst>
      <p:ext uri="{BB962C8B-B14F-4D97-AF65-F5344CB8AC3E}">
        <p14:creationId xmlns:p14="http://schemas.microsoft.com/office/powerpoint/2010/main" val="1558499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CEA9CB-8483-7E46-AA66-8577DB34280B}"/>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8564A16E-F6B6-0441-9664-F3E82146F3F8}"/>
              </a:ext>
            </a:extLst>
          </p:cNvPr>
          <p:cNvSpPr>
            <a:spLocks noGrp="1"/>
          </p:cNvSpPr>
          <p:nvPr>
            <p:ph sz="quarter" idx="13"/>
          </p:nvPr>
        </p:nvSpPr>
        <p:spPr/>
        <p:txBody>
          <a:bodyPr>
            <a:normAutofit/>
          </a:bodyPr>
          <a:lstStyle/>
          <a:p>
            <a:pPr algn="ctr"/>
            <a:r>
              <a:rPr lang="fr-FR" sz="2400" b="1" dirty="0"/>
              <a:t>Respectez les droits des personnes</a:t>
            </a:r>
          </a:p>
          <a:p>
            <a:r>
              <a:rPr lang="fr-FR" b="1" dirty="0"/>
              <a:t>Mettre à jour ses mentions légales sur vos sites internet</a:t>
            </a:r>
            <a:endParaRPr lang="fr-FR" dirty="0"/>
          </a:p>
          <a:p>
            <a:pPr lvl="1"/>
            <a:r>
              <a:rPr lang="fr-FR" b="1" dirty="0"/>
              <a:t>A ajouter aux mentions légales, concernant les cookies :</a:t>
            </a:r>
            <a:endParaRPr lang="fr-FR" sz="1400" dirty="0"/>
          </a:p>
          <a:p>
            <a:pPr lvl="1"/>
            <a:r>
              <a:rPr lang="fr-FR" dirty="0"/>
              <a:t>L’acceptation des cookies a une </a:t>
            </a:r>
            <a:r>
              <a:rPr lang="fr-FR" b="1" dirty="0"/>
              <a:t>durée de validité de 13 mois</a:t>
            </a:r>
            <a:r>
              <a:rPr lang="fr-FR" dirty="0"/>
              <a:t> maximum.</a:t>
            </a:r>
            <a:endParaRPr lang="fr-FR" sz="1400" dirty="0"/>
          </a:p>
          <a:p>
            <a:pPr lvl="1"/>
            <a:endParaRPr lang="fr-FR" dirty="0"/>
          </a:p>
        </p:txBody>
      </p:sp>
    </p:spTree>
    <p:extLst>
      <p:ext uri="{BB962C8B-B14F-4D97-AF65-F5344CB8AC3E}">
        <p14:creationId xmlns:p14="http://schemas.microsoft.com/office/powerpoint/2010/main" val="3692884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251353-B97A-AD4D-9500-33B6041BFE66}"/>
              </a:ext>
            </a:extLst>
          </p:cNvPr>
          <p:cNvSpPr>
            <a:spLocks noGrp="1"/>
          </p:cNvSpPr>
          <p:nvPr>
            <p:ph type="title"/>
          </p:nvPr>
        </p:nvSpPr>
        <p:spPr/>
        <p:txBody>
          <a:bodyPr/>
          <a:lstStyle/>
          <a:p>
            <a:r>
              <a:rPr lang="fr-FR" dirty="0"/>
              <a:t>Le RGPD</a:t>
            </a:r>
          </a:p>
        </p:txBody>
      </p:sp>
      <p:pic>
        <p:nvPicPr>
          <p:cNvPr id="5" name="Espace réservé du contenu 4" descr="Une image contenant capture d’écran&#10;&#10;&#10;&#10;Description générée automatiquement">
            <a:extLst>
              <a:ext uri="{FF2B5EF4-FFF2-40B4-BE49-F238E27FC236}">
                <a16:creationId xmlns:a16="http://schemas.microsoft.com/office/drawing/2014/main" id="{E95E1303-225D-A940-8CD8-413574CB04BF}"/>
              </a:ext>
            </a:extLst>
          </p:cNvPr>
          <p:cNvPicPr>
            <a:picLocks noGrp="1" noChangeAspect="1"/>
          </p:cNvPicPr>
          <p:nvPr>
            <p:ph sz="quarter" idx="13"/>
          </p:nvPr>
        </p:nvPicPr>
        <p:blipFill>
          <a:blip r:embed="rId2"/>
          <a:stretch>
            <a:fillRect/>
          </a:stretch>
        </p:blipFill>
        <p:spPr>
          <a:xfrm>
            <a:off x="2025650" y="2663031"/>
            <a:ext cx="8140700" cy="2832100"/>
          </a:xfrm>
        </p:spPr>
      </p:pic>
    </p:spTree>
    <p:extLst>
      <p:ext uri="{BB962C8B-B14F-4D97-AF65-F5344CB8AC3E}">
        <p14:creationId xmlns:p14="http://schemas.microsoft.com/office/powerpoint/2010/main" val="3207448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A855FF-6B2A-0549-9DC4-A58B56F91831}"/>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0E3B5F09-5DEF-9148-BEC1-850DE796B68B}"/>
              </a:ext>
            </a:extLst>
          </p:cNvPr>
          <p:cNvSpPr>
            <a:spLocks noGrp="1"/>
          </p:cNvSpPr>
          <p:nvPr>
            <p:ph sz="quarter" idx="13"/>
          </p:nvPr>
        </p:nvSpPr>
        <p:spPr>
          <a:xfrm>
            <a:off x="913774" y="2367092"/>
            <a:ext cx="10363826" cy="4023660"/>
          </a:xfrm>
        </p:spPr>
        <p:txBody>
          <a:bodyPr>
            <a:normAutofit fontScale="77500" lnSpcReduction="20000"/>
          </a:bodyPr>
          <a:lstStyle/>
          <a:p>
            <a:pPr marL="0" indent="0" algn="ctr">
              <a:buNone/>
            </a:pPr>
            <a:r>
              <a:rPr lang="fr-FR" sz="6000" b="1" dirty="0"/>
              <a:t>Mettre à jour sa politique de confidentialité</a:t>
            </a:r>
          </a:p>
          <a:p>
            <a:pPr marL="0" indent="0" algn="ctr">
              <a:buNone/>
            </a:pPr>
            <a:r>
              <a:rPr lang="fr-FR" sz="6000" dirty="0"/>
              <a:t>Dans les dossiers d’inscription</a:t>
            </a:r>
          </a:p>
          <a:p>
            <a:r>
              <a:rPr lang="fr-FR" dirty="0"/>
              <a:t>Les mentions légales doivent aborder l’utilisation des données personnelles et rediriger l’utilisateur vers la politique de confidentialité </a:t>
            </a:r>
          </a:p>
          <a:p>
            <a:r>
              <a:rPr lang="fr-FR" dirty="0"/>
              <a:t>Dans le cas où tous vos formulaires nécessitent une validation « </a:t>
            </a:r>
            <a:r>
              <a:rPr lang="fr-FR" dirty="0" err="1"/>
              <a:t>opt</a:t>
            </a:r>
            <a:r>
              <a:rPr lang="fr-FR" dirty="0"/>
              <a:t>-in » à cocher, nous recommandons d’indiquer une solution alternative à l’utilisateur qui ne souhaite pas donner son consentement au traitement de ses données..</a:t>
            </a:r>
          </a:p>
          <a:p>
            <a:endParaRPr lang="fr-FR" dirty="0"/>
          </a:p>
        </p:txBody>
      </p:sp>
    </p:spTree>
    <p:extLst>
      <p:ext uri="{BB962C8B-B14F-4D97-AF65-F5344CB8AC3E}">
        <p14:creationId xmlns:p14="http://schemas.microsoft.com/office/powerpoint/2010/main" val="794020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50D783-6D3F-134E-9C04-29E8305635A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9554A1D-DF07-8E44-942E-CFF8A6F8A7E1}"/>
              </a:ext>
            </a:extLst>
          </p:cNvPr>
          <p:cNvSpPr>
            <a:spLocks noGrp="1"/>
          </p:cNvSpPr>
          <p:nvPr>
            <p:ph sz="quarter" idx="13"/>
          </p:nvPr>
        </p:nvSpPr>
        <p:spPr/>
        <p:txBody>
          <a:bodyPr/>
          <a:lstStyle/>
          <a:p>
            <a:pPr algn="ctr"/>
            <a:r>
              <a:rPr lang="fr-FR" sz="2400" b="1" dirty="0"/>
              <a:t>Adapter les formulaires et être clair sur la finalité</a:t>
            </a:r>
            <a:endParaRPr lang="fr-FR" sz="2400" dirty="0"/>
          </a:p>
          <a:p>
            <a:r>
              <a:rPr lang="fr-FR" dirty="0">
                <a:hlinkClick r:id="rId2"/>
              </a:rPr>
              <a:t>L’article 6 du RGPD</a:t>
            </a:r>
            <a:r>
              <a:rPr lang="fr-FR" dirty="0"/>
              <a:t> précise « </a:t>
            </a:r>
            <a:r>
              <a:rPr lang="fr-FR" i="1" dirty="0"/>
              <a:t>Le traitement n’est licite que si la personne concernée a consenti au traitement de ses données à caractère personnel pour une ou plusieurs finalités spécifiques</a:t>
            </a:r>
            <a:r>
              <a:rPr lang="fr-FR" dirty="0"/>
              <a:t>. »</a:t>
            </a:r>
          </a:p>
          <a:p>
            <a:pPr lvl="1"/>
            <a:r>
              <a:rPr lang="fr-FR" b="1" dirty="0"/>
              <a:t>1 – Clarifier l’acte de consentement</a:t>
            </a:r>
            <a:endParaRPr lang="fr-FR" dirty="0"/>
          </a:p>
          <a:p>
            <a:pPr lvl="1"/>
            <a:r>
              <a:rPr lang="fr-FR" b="1" dirty="0"/>
              <a:t>2 – Distinguer le consentement des conditions générales</a:t>
            </a:r>
            <a:endParaRPr lang="fr-FR" dirty="0"/>
          </a:p>
          <a:p>
            <a:pPr lvl="1"/>
            <a:r>
              <a:rPr lang="fr-FR" b="1" dirty="0"/>
              <a:t>3 – Recueillir le consentement par une action positive</a:t>
            </a:r>
            <a:endParaRPr lang="fr-FR" dirty="0"/>
          </a:p>
          <a:p>
            <a:pPr lvl="1"/>
            <a:r>
              <a:rPr lang="fr-FR" b="1" dirty="0"/>
              <a:t>4 – Faciliter la rupture du consentement</a:t>
            </a:r>
            <a:r>
              <a:rPr lang="fr-FR" dirty="0"/>
              <a:t> </a:t>
            </a:r>
          </a:p>
        </p:txBody>
      </p:sp>
    </p:spTree>
    <p:extLst>
      <p:ext uri="{BB962C8B-B14F-4D97-AF65-F5344CB8AC3E}">
        <p14:creationId xmlns:p14="http://schemas.microsoft.com/office/powerpoint/2010/main" val="116965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D1543E-8797-6241-BFA2-E03B7EEAD960}"/>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B3AA29FA-77EA-6045-8527-89EEA253B08B}"/>
              </a:ext>
            </a:extLst>
          </p:cNvPr>
          <p:cNvSpPr>
            <a:spLocks noGrp="1"/>
          </p:cNvSpPr>
          <p:nvPr>
            <p:ph sz="quarter" idx="13"/>
          </p:nvPr>
        </p:nvSpPr>
        <p:spPr/>
        <p:txBody>
          <a:bodyPr/>
          <a:lstStyle/>
          <a:p>
            <a:r>
              <a:rPr lang="fr-FR" dirty="0"/>
              <a:t>exemples pour les dossiers d’inscription</a:t>
            </a:r>
          </a:p>
          <a:p>
            <a:pPr lvl="1"/>
            <a:r>
              <a:rPr lang="fr-FR" dirty="0">
                <a:hlinkClick r:id="rId2"/>
              </a:rPr>
              <a:t>maquette-politique-confidentialite.docx</a:t>
            </a:r>
            <a:endParaRPr lang="fr-FR" dirty="0"/>
          </a:p>
          <a:p>
            <a:pPr lvl="1"/>
            <a:endParaRPr lang="fr-FR" dirty="0"/>
          </a:p>
          <a:p>
            <a:pPr lvl="1"/>
            <a:r>
              <a:rPr lang="fr-FR" dirty="0">
                <a:hlinkClick r:id="rId3"/>
              </a:rPr>
              <a:t>Annexe 1 modele de contrat de scolarisation.docx</a:t>
            </a:r>
            <a:endParaRPr lang="fr-FR" dirty="0"/>
          </a:p>
          <a:p>
            <a:pPr lvl="1"/>
            <a:endParaRPr lang="fr-FR" dirty="0"/>
          </a:p>
          <a:p>
            <a:pPr lvl="1"/>
            <a:endParaRPr lang="fr-FR" dirty="0"/>
          </a:p>
        </p:txBody>
      </p:sp>
    </p:spTree>
    <p:extLst>
      <p:ext uri="{BB962C8B-B14F-4D97-AF65-F5344CB8AC3E}">
        <p14:creationId xmlns:p14="http://schemas.microsoft.com/office/powerpoint/2010/main" val="962566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3D00E8-408B-7142-89C1-66A01D429358}"/>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A1901B5E-DF18-484E-BD91-6C39639E7451}"/>
              </a:ext>
            </a:extLst>
          </p:cNvPr>
          <p:cNvSpPr>
            <a:spLocks noGrp="1"/>
          </p:cNvSpPr>
          <p:nvPr>
            <p:ph sz="quarter" idx="13"/>
          </p:nvPr>
        </p:nvSpPr>
        <p:spPr/>
        <p:txBody>
          <a:bodyPr>
            <a:normAutofit/>
          </a:bodyPr>
          <a:lstStyle/>
          <a:p>
            <a:pPr marL="0" indent="0" algn="ctr">
              <a:buNone/>
            </a:pPr>
            <a:r>
              <a:rPr lang="fr-FR" b="1" dirty="0"/>
              <a:t>Les sous-traitants</a:t>
            </a:r>
          </a:p>
          <a:p>
            <a:pPr lvl="1"/>
            <a:r>
              <a:rPr lang="fr-FR" dirty="0"/>
              <a:t>tout organisme offrant un service ou une prestation impliquant un traitement de données à caractère personnel pour le compte d’un autre organisme.</a:t>
            </a:r>
          </a:p>
          <a:p>
            <a:pPr lvl="1"/>
            <a:r>
              <a:rPr lang="fr-FR" b="1" dirty="0"/>
              <a:t>Prévoir un </a:t>
            </a:r>
            <a:r>
              <a:rPr lang="fr-FR" b="1" dirty="0">
                <a:hlinkClick r:id="rId2"/>
              </a:rPr>
              <a:t>contrat avec les sous-traitants</a:t>
            </a:r>
            <a:r>
              <a:rPr lang="fr-FR" dirty="0"/>
              <a:t>, qui définit notamment l’objet, la durée, la finalité du traitement et les obligations des parties.</a:t>
            </a:r>
          </a:p>
          <a:p>
            <a:endParaRPr lang="fr-FR" dirty="0"/>
          </a:p>
          <a:p>
            <a:r>
              <a:rPr lang="fr-FR" dirty="0"/>
              <a:t>Les clauses : </a:t>
            </a:r>
            <a:r>
              <a:rPr lang="fr-FR" dirty="0">
                <a:hlinkClick r:id="rId3"/>
              </a:rPr>
              <a:t>https://www.cnil.fr/fr/sous-traitance-exemple-de-clauses</a:t>
            </a:r>
            <a:endParaRPr lang="fr-FR" dirty="0"/>
          </a:p>
          <a:p>
            <a:endParaRPr lang="fr-FR" dirty="0"/>
          </a:p>
        </p:txBody>
      </p:sp>
    </p:spTree>
    <p:extLst>
      <p:ext uri="{BB962C8B-B14F-4D97-AF65-F5344CB8AC3E}">
        <p14:creationId xmlns:p14="http://schemas.microsoft.com/office/powerpoint/2010/main" val="1989177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E54991-EF02-4342-9D75-F54516A68BEB}"/>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952FF342-4BBF-FC4E-AED7-8D8E72190DBD}"/>
              </a:ext>
            </a:extLst>
          </p:cNvPr>
          <p:cNvSpPr>
            <a:spLocks noGrp="1"/>
          </p:cNvSpPr>
          <p:nvPr>
            <p:ph sz="quarter" idx="13"/>
          </p:nvPr>
        </p:nvSpPr>
        <p:spPr>
          <a:xfrm>
            <a:off x="913774" y="1798655"/>
            <a:ext cx="10363826" cy="4440827"/>
          </a:xfrm>
        </p:spPr>
        <p:txBody>
          <a:bodyPr>
            <a:normAutofit/>
          </a:bodyPr>
          <a:lstStyle/>
          <a:p>
            <a:pPr algn="ctr"/>
            <a:r>
              <a:rPr lang="fr-FR" sz="2400" b="1" dirty="0"/>
              <a:t>Sécurisez vos données</a:t>
            </a:r>
          </a:p>
          <a:p>
            <a:r>
              <a:rPr lang="fr-FR" dirty="0"/>
              <a:t>Si le risque zéro n’existe pas en informatique, vous devez prendre les mesures nécessaires pour garantir au mieux la sécurité des données. Vous êtes en effet tenu à une obligation légale d’assurer la sécurité des données personnelles que vous détenez.</a:t>
            </a:r>
          </a:p>
          <a:p>
            <a:r>
              <a:rPr lang="fr-FR" b="1" dirty="0"/>
              <a:t>Des réflexes doivent être mis en place</a:t>
            </a:r>
            <a:r>
              <a:rPr lang="fr-FR" dirty="0"/>
              <a:t> : mises à jour de vos antivirus et logiciels, changement régulier des mots de passe et utilisation de mots de passe complexes, ou chiffrement de vos données dans certaines situations</a:t>
            </a:r>
          </a:p>
          <a:p>
            <a:r>
              <a:rPr lang="fr-FR" dirty="0"/>
              <a:t>Charte informatique : 	1</a:t>
            </a:r>
            <a:r>
              <a:rPr lang="fr-FR" baseline="30000" dirty="0"/>
              <a:t>er</a:t>
            </a:r>
            <a:r>
              <a:rPr lang="fr-FR" dirty="0"/>
              <a:t> degré voir affiche</a:t>
            </a:r>
          </a:p>
          <a:p>
            <a:pPr marL="3657600" lvl="8" indent="0">
              <a:buNone/>
            </a:pPr>
            <a:r>
              <a:rPr lang="fr-FR" sz="1300" dirty="0"/>
              <a:t>2 </a:t>
            </a:r>
            <a:r>
              <a:rPr lang="fr-FR" sz="1300" dirty="0" err="1"/>
              <a:t>nd</a:t>
            </a:r>
            <a:r>
              <a:rPr lang="fr-FR" sz="1300" dirty="0"/>
              <a:t> Degré </a:t>
            </a:r>
            <a:r>
              <a:rPr lang="fr-FR" dirty="0"/>
              <a:t>: </a:t>
            </a:r>
            <a:r>
              <a:rPr lang="fr-FR" dirty="0">
                <a:hlinkClick r:id="rId2"/>
              </a:rPr>
              <a:t>exemple</a:t>
            </a:r>
            <a:endParaRPr lang="fr-FR" dirty="0"/>
          </a:p>
        </p:txBody>
      </p:sp>
    </p:spTree>
    <p:extLst>
      <p:ext uri="{BB962C8B-B14F-4D97-AF65-F5344CB8AC3E}">
        <p14:creationId xmlns:p14="http://schemas.microsoft.com/office/powerpoint/2010/main" val="1830751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A3F42A-A223-6C49-A195-2022C5CB1B23}"/>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D8A158A0-E071-DA43-9B70-408A31AFACC2}"/>
              </a:ext>
            </a:extLst>
          </p:cNvPr>
          <p:cNvSpPr>
            <a:spLocks noGrp="1"/>
          </p:cNvSpPr>
          <p:nvPr>
            <p:ph sz="quarter" idx="13"/>
          </p:nvPr>
        </p:nvSpPr>
        <p:spPr/>
        <p:txBody>
          <a:bodyPr>
            <a:normAutofit lnSpcReduction="10000"/>
          </a:bodyPr>
          <a:lstStyle/>
          <a:p>
            <a:pPr algn="ctr"/>
            <a:r>
              <a:rPr lang="fr-FR" sz="2400" b="1" dirty="0"/>
              <a:t>Signalez à la CNIL les violations de données personnelles</a:t>
            </a:r>
          </a:p>
          <a:p>
            <a:r>
              <a:rPr lang="fr-FR" dirty="0"/>
              <a:t>Votre entreprise a subi une violation de données (des données personnelles ont été, de manière accidentelle ou illicite, détruites, perdues, altérées, divulguées ou vous avez constaté un accès non autorisé à des données) ?</a:t>
            </a:r>
          </a:p>
          <a:p>
            <a:r>
              <a:rPr lang="fr-FR" dirty="0"/>
              <a:t>Vous devez </a:t>
            </a:r>
            <a:r>
              <a:rPr lang="fr-FR" b="1" dirty="0"/>
              <a:t>la signaler à la CNIL</a:t>
            </a:r>
            <a:r>
              <a:rPr lang="fr-FR" dirty="0"/>
              <a:t> dans les 72 heures si cette violation est susceptible de représenter un risque pour les droits et libertés des personnes concernées. Cette notification s’effectue en ligne sur le site internet de la CNIL.</a:t>
            </a:r>
          </a:p>
          <a:p>
            <a:r>
              <a:rPr lang="fr-FR" dirty="0"/>
              <a:t>Si ces risques sont élevés pour ces personnes, vous devrez les en informer.</a:t>
            </a:r>
          </a:p>
          <a:p>
            <a:endParaRPr lang="fr-FR" dirty="0"/>
          </a:p>
        </p:txBody>
      </p:sp>
    </p:spTree>
    <p:extLst>
      <p:ext uri="{BB962C8B-B14F-4D97-AF65-F5344CB8AC3E}">
        <p14:creationId xmlns:p14="http://schemas.microsoft.com/office/powerpoint/2010/main" val="185046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D952B9-83B0-AE45-9E7E-33D5B98E1834}"/>
              </a:ext>
            </a:extLst>
          </p:cNvPr>
          <p:cNvSpPr>
            <a:spLocks noGrp="1"/>
          </p:cNvSpPr>
          <p:nvPr>
            <p:ph type="title"/>
          </p:nvPr>
        </p:nvSpPr>
        <p:spPr/>
        <p:txBody>
          <a:bodyPr/>
          <a:lstStyle/>
          <a:p>
            <a:r>
              <a:rPr lang="fr-FR" dirty="0"/>
              <a:t>Le RGPD</a:t>
            </a:r>
          </a:p>
        </p:txBody>
      </p:sp>
      <p:sp>
        <p:nvSpPr>
          <p:cNvPr id="3" name="Espace réservé du contenu 2">
            <a:extLst>
              <a:ext uri="{FF2B5EF4-FFF2-40B4-BE49-F238E27FC236}">
                <a16:creationId xmlns:a16="http://schemas.microsoft.com/office/drawing/2014/main" id="{3FABFD8D-7E84-7C41-8C94-5A6FE29B41A7}"/>
              </a:ext>
            </a:extLst>
          </p:cNvPr>
          <p:cNvSpPr>
            <a:spLocks noGrp="1"/>
          </p:cNvSpPr>
          <p:nvPr>
            <p:ph sz="quarter" idx="13"/>
          </p:nvPr>
        </p:nvSpPr>
        <p:spPr/>
        <p:txBody>
          <a:bodyPr>
            <a:normAutofit fontScale="92500" lnSpcReduction="20000"/>
          </a:bodyPr>
          <a:lstStyle/>
          <a:p>
            <a:pPr algn="ctr"/>
            <a:r>
              <a:rPr lang="fr-FR" sz="3100" b="1" dirty="0"/>
              <a:t>Différents types de sanctions</a:t>
            </a:r>
          </a:p>
          <a:p>
            <a:r>
              <a:rPr lang="fr-FR" b="1" dirty="0"/>
              <a:t>Prononcer un rappel à l’ordre ;</a:t>
            </a:r>
            <a:endParaRPr lang="fr-FR" dirty="0"/>
          </a:p>
          <a:p>
            <a:r>
              <a:rPr lang="fr-FR" b="1" dirty="0"/>
              <a:t>Enjoindre de mettre le traitement en conformité, y compris sous astreinte ;</a:t>
            </a:r>
            <a:endParaRPr lang="fr-FR" dirty="0"/>
          </a:p>
          <a:p>
            <a:r>
              <a:rPr lang="fr-FR" b="1" dirty="0"/>
              <a:t>Limiter temporairement ou définitivement un traitement ;</a:t>
            </a:r>
            <a:endParaRPr lang="fr-FR" dirty="0"/>
          </a:p>
          <a:p>
            <a:r>
              <a:rPr lang="fr-FR" b="1" dirty="0"/>
              <a:t>Suspendre les flux de données ;</a:t>
            </a:r>
            <a:endParaRPr lang="fr-FR" dirty="0"/>
          </a:p>
          <a:p>
            <a:r>
              <a:rPr lang="fr-FR" b="1" dirty="0"/>
              <a:t>Ordonner de satisfaire aux demandes d'exercice des droits des personnes, y compris sous astreinte ;</a:t>
            </a:r>
            <a:endParaRPr lang="fr-FR" dirty="0"/>
          </a:p>
          <a:p>
            <a:r>
              <a:rPr lang="fr-FR" b="1" dirty="0"/>
              <a:t>Prononcer une amende administrative. </a:t>
            </a:r>
            <a:endParaRPr lang="fr-FR" dirty="0"/>
          </a:p>
          <a:p>
            <a:endParaRPr lang="fr-FR" dirty="0"/>
          </a:p>
        </p:txBody>
      </p:sp>
    </p:spTree>
    <p:extLst>
      <p:ext uri="{BB962C8B-B14F-4D97-AF65-F5344CB8AC3E}">
        <p14:creationId xmlns:p14="http://schemas.microsoft.com/office/powerpoint/2010/main" val="2996950265"/>
      </p:ext>
    </p:extLst>
  </p:cSld>
  <p:clrMapOvr>
    <a:masterClrMapping/>
  </p:clrMapOvr>
</p:sld>
</file>

<file path=ppt/theme/theme1.xml><?xml version="1.0" encoding="utf-8"?>
<a:theme xmlns:a="http://schemas.openxmlformats.org/drawingml/2006/main" name="Ronds dans l’eau">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1D79D28CCF9349A98EAB13E2A90710" ma:contentTypeVersion="0" ma:contentTypeDescription="Crée un document." ma:contentTypeScope="" ma:versionID="acaaecb9a43d4037955a65a7916aea69">
  <xsd:schema xmlns:xsd="http://www.w3.org/2001/XMLSchema" xmlns:xs="http://www.w3.org/2001/XMLSchema" xmlns:p="http://schemas.microsoft.com/office/2006/metadata/properties" targetNamespace="http://schemas.microsoft.com/office/2006/metadata/properties" ma:root="true" ma:fieldsID="9b3613ba4871b6d4221e6a6d8c4f7bd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9BDFBDC-4069-4197-ADE9-9BEAECD02AA7}"/>
</file>

<file path=customXml/itemProps2.xml><?xml version="1.0" encoding="utf-8"?>
<ds:datastoreItem xmlns:ds="http://schemas.openxmlformats.org/officeDocument/2006/customXml" ds:itemID="{3574CA36-9516-429D-87BB-4743026A9E9F}"/>
</file>

<file path=customXml/itemProps3.xml><?xml version="1.0" encoding="utf-8"?>
<ds:datastoreItem xmlns:ds="http://schemas.openxmlformats.org/officeDocument/2006/customXml" ds:itemID="{13A3635C-4DC0-4D56-8853-3809F6C39A5E}"/>
</file>

<file path=docProps/app.xml><?xml version="1.0" encoding="utf-8"?>
<Properties xmlns="http://schemas.openxmlformats.org/officeDocument/2006/extended-properties" xmlns:vt="http://schemas.openxmlformats.org/officeDocument/2006/docPropsVTypes">
  <Template>Ronds dans l’eau</Template>
  <TotalTime>1784</TotalTime>
  <Words>1207</Words>
  <Application>Microsoft Macintosh PowerPoint</Application>
  <PresentationFormat>Grand écran</PresentationFormat>
  <Paragraphs>100</Paragraphs>
  <Slides>17</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17</vt:i4>
      </vt:variant>
    </vt:vector>
  </HeadingPairs>
  <TitlesOfParts>
    <vt:vector size="20" baseType="lpstr">
      <vt:lpstr>Arial</vt:lpstr>
      <vt:lpstr>Tw Cen MT</vt:lpstr>
      <vt:lpstr>Ronds dans l’eau</vt:lpstr>
      <vt:lpstr>Le RGPD</vt:lpstr>
      <vt:lpstr>Le RGPD</vt:lpstr>
      <vt:lpstr>Le rgpd</vt:lpstr>
      <vt:lpstr>Le rgpd </vt:lpstr>
      <vt:lpstr>Le RGPD</vt:lpstr>
      <vt:lpstr>Le RGPD </vt:lpstr>
      <vt:lpstr>Le RGPD</vt:lpstr>
      <vt:lpstr>Le RGPD</vt:lpstr>
      <vt:lpstr>Le RGPD</vt:lpstr>
      <vt:lpstr>Le RGPD</vt:lpstr>
      <vt:lpstr>Le RGPD</vt:lpstr>
      <vt:lpstr>Présentation PowerPoint</vt:lpstr>
      <vt:lpstr>Le RGPD</vt:lpstr>
      <vt:lpstr>Le RGPD</vt:lpstr>
      <vt:lpstr>Le RGPD</vt:lpstr>
      <vt:lpstr>Le RGPD</vt:lpstr>
      <vt:lpstr>Le RGPD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RGPD</dc:title>
  <dc:creator>BESLIER Denis</dc:creator>
  <cp:lastModifiedBy>BESLIER Denis</cp:lastModifiedBy>
  <cp:revision>14</cp:revision>
  <dcterms:created xsi:type="dcterms:W3CDTF">2019-02-03T19:17:14Z</dcterms:created>
  <dcterms:modified xsi:type="dcterms:W3CDTF">2025-09-04T08:55:01Z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0x0101008C1D79D28CCF9349A98EAB13E2A90710</vt:lpwstr>
  </property>
</Properties>
</file>